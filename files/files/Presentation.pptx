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4"/>
    <p:restoredTop sz="94719"/>
  </p:normalViewPr>
  <p:slideViewPr>
    <p:cSldViewPr snapToGrid="0">
      <p:cViewPr>
        <p:scale>
          <a:sx n="85" d="100"/>
          <a:sy n="85" d="100"/>
        </p:scale>
        <p:origin x="177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secracker.com/industries/child-advocacy-centers/?utm_source=chatgpt.com" TargetMode="External"/><Relationship Id="rId7" Type="http://schemas.openxmlformats.org/officeDocument/2006/relationships/hyperlink" Target="https://www.weprotect.org/thematic/artificial-intelligence-and-gen-ai/?utm_source=chatgpt.com" TargetMode="External"/><Relationship Id="rId2" Type="http://schemas.openxmlformats.org/officeDocument/2006/relationships/hyperlink" Target="https://caccarenet.com/benefits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cri.org/topics/AI-for-Safer-Children?utm_source=chatgpt.com" TargetMode="External"/><Relationship Id="rId5" Type="http://schemas.openxmlformats.org/officeDocument/2006/relationships/hyperlink" Target="https://sylviascac.org/forensic-interviews/?utm_source=chatgpt.com" TargetMode="External"/><Relationship Id="rId4" Type="http://schemas.openxmlformats.org/officeDocument/2006/relationships/hyperlink" Target="https://www.chapinhall.org/project/the-center-for-state-child-welfare-data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CCDE-5AE0-5899-7597-4652156B6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500" cap="all" dirty="0"/>
              <a:t>How child advocacy centers use technology in investigations</a:t>
            </a:r>
            <a:endParaRPr lang="en-US" sz="3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05348-9C02-53A0-322C-6115698CBE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Jhanvi Barnes</a:t>
            </a:r>
          </a:p>
        </p:txBody>
      </p:sp>
    </p:spTree>
    <p:extLst>
      <p:ext uri="{BB962C8B-B14F-4D97-AF65-F5344CB8AC3E}">
        <p14:creationId xmlns:p14="http://schemas.microsoft.com/office/powerpoint/2010/main" val="3948953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62E5-0883-5228-83B8-8DCACC91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DIGITAL RECORDING MATTERS IN CAC INVESTIGATIONS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13673-0627-1E2F-79D6-459A9061E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592287" cy="33189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Preserves accuracy of children’s statements</a:t>
            </a:r>
          </a:p>
          <a:p>
            <a:r>
              <a:rPr lang="en-US" dirty="0"/>
              <a:t>Captures verbal and non-verbal cues</a:t>
            </a:r>
          </a:p>
          <a:p>
            <a:r>
              <a:rPr lang="en-US" dirty="0"/>
              <a:t>Reduces repeated questioning &amp; </a:t>
            </a:r>
            <a:r>
              <a:rPr lang="en-US" dirty="0" err="1"/>
              <a:t>retraumatization</a:t>
            </a:r>
            <a:endParaRPr lang="en-US" dirty="0"/>
          </a:p>
          <a:p>
            <a:r>
              <a:rPr lang="en-US" dirty="0"/>
              <a:t>Allows MDT professionals to observe remotely</a:t>
            </a:r>
          </a:p>
          <a:p>
            <a:r>
              <a:rPr lang="en-US" dirty="0"/>
              <a:t>Supports clear documentation for investigations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0C67E-4C69-F476-9A0E-CB85EE8EA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011" y="2830781"/>
            <a:ext cx="3677587" cy="19154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A7763D-0081-7693-F59B-2C9149C4A18D}"/>
              </a:ext>
            </a:extLst>
          </p:cNvPr>
          <p:cNvSpPr txBox="1"/>
          <p:nvPr/>
        </p:nvSpPr>
        <p:spPr>
          <a:xfrm>
            <a:off x="7644984" y="4746191"/>
            <a:ext cx="287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guardify.com</a:t>
            </a:r>
            <a:r>
              <a:rPr lang="en-US" sz="1200" dirty="0"/>
              <a:t>/when-evidence-gets-exposed-how-to-tell-if-your-digital-evidence-management-system-is-truly-secure/</a:t>
            </a:r>
          </a:p>
        </p:txBody>
      </p:sp>
    </p:spTree>
    <p:extLst>
      <p:ext uri="{BB962C8B-B14F-4D97-AF65-F5344CB8AC3E}">
        <p14:creationId xmlns:p14="http://schemas.microsoft.com/office/powerpoint/2010/main" val="405215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5F08-F825-6E9F-FC90-7EF1CC73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all"/>
              <a:t>Sylvia’s child advocacy center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44383-AA01-CE68-4A53-BBF4EB70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257" y="2556932"/>
            <a:ext cx="6063340" cy="331893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Forensic interviews digitally recorded with cameras &amp; microphones</a:t>
            </a:r>
          </a:p>
          <a:p>
            <a:r>
              <a:rPr lang="en-US"/>
              <a:t>Enables observation by law enforcement &amp; child protective services without repeated questioning</a:t>
            </a:r>
          </a:p>
          <a:p>
            <a:r>
              <a:rPr lang="en-US"/>
              <a:t>Preserves the accuracy of the child’s disclosure &amp; cues</a:t>
            </a:r>
          </a:p>
          <a:p>
            <a:r>
              <a:rPr lang="en-US"/>
              <a:t>Minimizes trauma by reducing how often a child recounts their experience</a:t>
            </a:r>
          </a:p>
          <a:p>
            <a:r>
              <a:rPr lang="en-US"/>
              <a:t>Supports effective, child-sensitive investigations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3CD87-F36F-AA30-0FD2-B3B62716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64" y="3262069"/>
            <a:ext cx="3911598" cy="1303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27AC96-8FA7-AFB2-434E-E075A85C0938}"/>
              </a:ext>
            </a:extLst>
          </p:cNvPr>
          <p:cNvSpPr txBox="1"/>
          <p:nvPr/>
        </p:nvSpPr>
        <p:spPr>
          <a:xfrm>
            <a:off x="2205240" y="4565935"/>
            <a:ext cx="1476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sylviascac.org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1916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FF7C-91BF-2E94-59FC-A23377F9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all" dirty="0"/>
              <a:t>Cardinal peak technologies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62A-33AE-387B-59A7-8DFF752A8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853544" cy="331893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CaseCracker</a:t>
            </a:r>
            <a:r>
              <a:rPr lang="en-US" dirty="0"/>
              <a:t> Onyx: easy-to-use digital recording system for child advocacy centers </a:t>
            </a:r>
          </a:p>
          <a:p>
            <a:r>
              <a:rPr lang="en-US" dirty="0"/>
              <a:t>One-button recording state &amp; quick file saving, even for large files</a:t>
            </a:r>
          </a:p>
          <a:p>
            <a:r>
              <a:rPr lang="en-US" dirty="0"/>
              <a:t>In-interview note-taking and metadata tagging for efficient documentation</a:t>
            </a:r>
          </a:p>
          <a:p>
            <a:r>
              <a:rPr lang="en-US" dirty="0"/>
              <a:t>High-definition microphones capture clear audio throughout the interview</a:t>
            </a:r>
          </a:p>
          <a:p>
            <a:r>
              <a:rPr lang="en-US" dirty="0"/>
              <a:t>Enhances reliable documentation &amp; reduces the need for repeated questioning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5F090-155C-E9BA-4D6E-256DBE6E1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170" y="3162325"/>
            <a:ext cx="4536721" cy="1621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204608-49DF-EE35-4270-78490178A0F5}"/>
              </a:ext>
            </a:extLst>
          </p:cNvPr>
          <p:cNvSpPr txBox="1"/>
          <p:nvPr/>
        </p:nvSpPr>
        <p:spPr>
          <a:xfrm>
            <a:off x="8092165" y="4783848"/>
            <a:ext cx="196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www.casecracker.com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8482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13EB-A22E-45E4-777B-8668DCE3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all" dirty="0"/>
              <a:t>importance of case management &amp; data sharing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19D1-78B9-4B10-26C2-E3D9AF88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2639" y="2556932"/>
            <a:ext cx="5813958" cy="33189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Organizes all case information in one digital system</a:t>
            </a:r>
          </a:p>
          <a:p>
            <a:r>
              <a:rPr lang="en-US" dirty="0"/>
              <a:t>Supports data sharing across multidisciplinary teams</a:t>
            </a:r>
          </a:p>
          <a:p>
            <a:r>
              <a:rPr lang="en-US" dirty="0"/>
              <a:t>Improves accuracy and reduces missing information</a:t>
            </a:r>
          </a:p>
          <a:p>
            <a:r>
              <a:rPr lang="en-US" dirty="0"/>
              <a:t>Enhances decision-making through data analysis </a:t>
            </a:r>
          </a:p>
          <a:p>
            <a:r>
              <a:rPr lang="en-US" dirty="0"/>
              <a:t>Ensures secure handling of sensitive records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0ABB7D-2D29-C453-F3A2-C6589E0CC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24" y="2785880"/>
            <a:ext cx="4091315" cy="2130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B88740-B8F3-C6D2-550D-0E164027A958}"/>
              </a:ext>
            </a:extLst>
          </p:cNvPr>
          <p:cNvSpPr txBox="1"/>
          <p:nvPr/>
        </p:nvSpPr>
        <p:spPr>
          <a:xfrm>
            <a:off x="1439055" y="4954989"/>
            <a:ext cx="3762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www.skillcast.com</a:t>
            </a:r>
            <a:r>
              <a:rPr lang="en-US" sz="1200" dirty="0"/>
              <a:t>/blog/</a:t>
            </a:r>
            <a:r>
              <a:rPr lang="en-US" sz="1200" dirty="0" err="1"/>
              <a:t>gdpr</a:t>
            </a:r>
            <a:r>
              <a:rPr lang="en-US" sz="1200" dirty="0"/>
              <a:t>-data-sharing-compliance-tips</a:t>
            </a:r>
          </a:p>
        </p:txBody>
      </p:sp>
    </p:spTree>
    <p:extLst>
      <p:ext uri="{BB962C8B-B14F-4D97-AF65-F5344CB8AC3E}">
        <p14:creationId xmlns:p14="http://schemas.microsoft.com/office/powerpoint/2010/main" val="376830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911A-0802-E8ED-7299-FC8C8CBF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/>
              <a:t>Chapin Hall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0E8EE-D7DD-F38C-4864-AB806A1D2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485409" cy="331893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Supports state agencies in building &amp; using administrative data systems</a:t>
            </a:r>
          </a:p>
          <a:p>
            <a:r>
              <a:rPr lang="en-US" dirty="0"/>
              <a:t>Creates databases for quality improvement, policy analysis, &amp; performance measurement</a:t>
            </a:r>
          </a:p>
          <a:p>
            <a:r>
              <a:rPr lang="en-US" dirty="0"/>
              <a:t>Uses data linking to merge records across programs securely</a:t>
            </a:r>
          </a:p>
          <a:p>
            <a:r>
              <a:rPr lang="en-US" dirty="0"/>
              <a:t>Ensures high data quality and security standards</a:t>
            </a:r>
          </a:p>
          <a:p>
            <a:r>
              <a:rPr lang="en-US" dirty="0"/>
              <a:t>Provides training and technical support for child welfare professionals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13BCE6-3A7C-79F5-9AAF-31AC9955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673" y="2761466"/>
            <a:ext cx="4055925" cy="2122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7DFE20-AE14-A613-70C0-5C16D9EBFE33}"/>
              </a:ext>
            </a:extLst>
          </p:cNvPr>
          <p:cNvSpPr txBox="1"/>
          <p:nvPr/>
        </p:nvSpPr>
        <p:spPr>
          <a:xfrm>
            <a:off x="7463442" y="4884067"/>
            <a:ext cx="2810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bulk.ly</a:t>
            </a:r>
            <a:r>
              <a:rPr lang="en-US" sz="1200" dirty="0"/>
              <a:t>/data-sharing-best-practices/</a:t>
            </a:r>
          </a:p>
        </p:txBody>
      </p:sp>
    </p:spTree>
    <p:extLst>
      <p:ext uri="{BB962C8B-B14F-4D97-AF65-F5344CB8AC3E}">
        <p14:creationId xmlns:p14="http://schemas.microsoft.com/office/powerpoint/2010/main" val="1199302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6FFF-C459-6C1A-901C-0700E9A5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all" dirty="0"/>
              <a:t>CAC </a:t>
            </a:r>
            <a:r>
              <a:rPr lang="en-US" cap="all" dirty="0" err="1"/>
              <a:t>carenet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FAC9-6760-9FA7-866F-0888FCF98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9506" y="2556932"/>
            <a:ext cx="6087090" cy="33189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Cloud-based case management platform for child advocacy centers</a:t>
            </a:r>
          </a:p>
          <a:p>
            <a:r>
              <a:rPr lang="en-US" dirty="0"/>
              <a:t>Supports forensic interview videos, documentation, &amp; multidisciplinary team collaborations</a:t>
            </a:r>
          </a:p>
          <a:p>
            <a:r>
              <a:rPr lang="en-US" dirty="0"/>
              <a:t>Permission controls for data access &amp; editing</a:t>
            </a:r>
          </a:p>
          <a:p>
            <a:r>
              <a:rPr lang="en-US" dirty="0"/>
              <a:t>Includes medical &amp; therapy modules to track client services</a:t>
            </a:r>
          </a:p>
          <a:p>
            <a:r>
              <a:rPr lang="en-US" dirty="0"/>
              <a:t>HIPAA- and SOC- certified servers ensure strong data protection</a:t>
            </a:r>
          </a:p>
          <a:p>
            <a:r>
              <a:rPr lang="en-US" dirty="0"/>
              <a:t>Enables centralized documentation and efficient coordination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2F0F9-D7BA-68F9-8772-D431BDECF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393" y="2827865"/>
            <a:ext cx="2426279" cy="20536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D57611-8AA4-EF47-6D23-6958A14936F2}"/>
              </a:ext>
            </a:extLst>
          </p:cNvPr>
          <p:cNvSpPr txBox="1"/>
          <p:nvPr/>
        </p:nvSpPr>
        <p:spPr>
          <a:xfrm>
            <a:off x="1645180" y="4881517"/>
            <a:ext cx="2768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caccarenet.com</a:t>
            </a:r>
            <a:r>
              <a:rPr lang="en-US" sz="1200" dirty="0"/>
              <a:t>/2020/09/22/929/</a:t>
            </a:r>
          </a:p>
        </p:txBody>
      </p:sp>
    </p:spTree>
    <p:extLst>
      <p:ext uri="{BB962C8B-B14F-4D97-AF65-F5344CB8AC3E}">
        <p14:creationId xmlns:p14="http://schemas.microsoft.com/office/powerpoint/2010/main" val="406415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1C6A-1B8D-FD0D-B409-605B4B63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all" dirty="0"/>
              <a:t>how ai supports </a:t>
            </a:r>
            <a:r>
              <a:rPr lang="en-US" cap="all" dirty="0" err="1"/>
              <a:t>cac</a:t>
            </a:r>
            <a:r>
              <a:rPr lang="en-US" cap="all" dirty="0"/>
              <a:t> investigations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9B5D-358A-333E-35A3-987173420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019799" cy="3318936"/>
          </a:xfrm>
        </p:spPr>
        <p:txBody>
          <a:bodyPr>
            <a:normAutofit fontScale="92500"/>
          </a:bodyPr>
          <a:lstStyle/>
          <a:p>
            <a:r>
              <a:rPr lang="en-US" dirty="0"/>
              <a:t>Speeds detection of abusive images/videos online</a:t>
            </a:r>
          </a:p>
          <a:p>
            <a:r>
              <a:rPr lang="en-US" dirty="0"/>
              <a:t>Identifies grooming behavior and risky interactions</a:t>
            </a:r>
          </a:p>
          <a:p>
            <a:r>
              <a:rPr lang="en-US" dirty="0"/>
              <a:t>Reduces exposure to traumatic material for staff</a:t>
            </a:r>
          </a:p>
          <a:p>
            <a:r>
              <a:rPr lang="en-US" dirty="0"/>
              <a:t>Helps categorize and prioritize digital evidence</a:t>
            </a:r>
          </a:p>
          <a:p>
            <a:r>
              <a:rPr lang="en-US" dirty="0"/>
              <a:t>Supports prevention and early intervention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73C67C-7441-7DAA-43EB-70341041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56932"/>
            <a:ext cx="3927423" cy="23283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2643E6-9FDB-D3D5-0171-BDA1CD751942}"/>
              </a:ext>
            </a:extLst>
          </p:cNvPr>
          <p:cNvSpPr txBox="1"/>
          <p:nvPr/>
        </p:nvSpPr>
        <p:spPr>
          <a:xfrm>
            <a:off x="7793634" y="4885285"/>
            <a:ext cx="310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medium.com</a:t>
            </a:r>
            <a:r>
              <a:rPr lang="en-US" sz="1200" dirty="0"/>
              <a:t>/@chaudharisarvesh10/generative-ai-transforming-user-experience-design-c81a35756399</a:t>
            </a:r>
          </a:p>
        </p:txBody>
      </p:sp>
    </p:spTree>
    <p:extLst>
      <p:ext uri="{BB962C8B-B14F-4D97-AF65-F5344CB8AC3E}">
        <p14:creationId xmlns:p14="http://schemas.microsoft.com/office/powerpoint/2010/main" val="196225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39D7-0D0B-C3CE-BCC3-AEF09FA6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all" dirty="0" err="1"/>
              <a:t>Weprotect</a:t>
            </a:r>
            <a:r>
              <a:rPr lang="en-US" cap="all" dirty="0"/>
              <a:t> global alliance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74E5E-0A06-12E5-45D1-5170075CF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0765" y="2556932"/>
            <a:ext cx="5825832" cy="33189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AI enables fast identification, classification, &amp; moderation of abusive content online</a:t>
            </a:r>
          </a:p>
          <a:p>
            <a:r>
              <a:rPr lang="en-US" dirty="0"/>
              <a:t>Chatbots detect grooming behavior in real time &amp; provide prevention/support</a:t>
            </a:r>
          </a:p>
          <a:p>
            <a:r>
              <a:rPr lang="en-US" dirty="0"/>
              <a:t>Raises serious concerns: user privacy risks &amp; misuse of AI-generated content</a:t>
            </a:r>
          </a:p>
          <a:p>
            <a:r>
              <a:rPr lang="en-US" dirty="0"/>
              <a:t>Calls for transparency &amp; ethical frameworks for responsible AI use</a:t>
            </a:r>
          </a:p>
          <a:p>
            <a:r>
              <a:rPr lang="en-US" dirty="0"/>
              <a:t>Balances benefits with caution in child protection efforts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C7B512-9FE8-2400-F3BA-44272BA32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65" y="3211504"/>
            <a:ext cx="3810000" cy="127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6F37C4-72A7-5096-7E39-C6B503820A2A}"/>
              </a:ext>
            </a:extLst>
          </p:cNvPr>
          <p:cNvSpPr txBox="1"/>
          <p:nvPr/>
        </p:nvSpPr>
        <p:spPr>
          <a:xfrm>
            <a:off x="2158584" y="4481504"/>
            <a:ext cx="2280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nwgnetwork.org</a:t>
            </a:r>
            <a:r>
              <a:rPr lang="en-US" sz="1200" dirty="0"/>
              <a:t>/80732-2/</a:t>
            </a:r>
          </a:p>
        </p:txBody>
      </p:sp>
    </p:spTree>
    <p:extLst>
      <p:ext uri="{BB962C8B-B14F-4D97-AF65-F5344CB8AC3E}">
        <p14:creationId xmlns:p14="http://schemas.microsoft.com/office/powerpoint/2010/main" val="23355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A2A27-A377-47F0-D056-E834E522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all" dirty="0" err="1"/>
              <a:t>Unicri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1F96A-E8D7-1C5E-06F8-E30BC1486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114802" cy="3318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AI assists law enforcement &amp; child advocacy centers worldwide in investigations</a:t>
            </a:r>
          </a:p>
          <a:p>
            <a:r>
              <a:rPr lang="en-US" dirty="0"/>
              <a:t>Detects &amp; analyzes child sexual abuse material online, speeding investigations</a:t>
            </a:r>
          </a:p>
          <a:p>
            <a:r>
              <a:rPr lang="en-US" dirty="0"/>
              <a:t>Reduces emotional toll on professionals exposed to traumatic content</a:t>
            </a:r>
          </a:p>
          <a:p>
            <a:r>
              <a:rPr lang="en-US" dirty="0"/>
              <a:t>Emphasizes ethical AI use &amp; professional training</a:t>
            </a:r>
          </a:p>
          <a:p>
            <a:r>
              <a:rPr lang="en-US" dirty="0"/>
              <a:t>Highlight AI’s growing critical role in enhancing child protection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F5D04-3F63-5D0F-A606-25C8DDD0D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97" y="2893102"/>
            <a:ext cx="3545833" cy="18012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9F0AA6-86C5-F040-C6B6-50531E6B7A6C}"/>
              </a:ext>
            </a:extLst>
          </p:cNvPr>
          <p:cNvSpPr txBox="1"/>
          <p:nvPr/>
        </p:nvSpPr>
        <p:spPr>
          <a:xfrm>
            <a:off x="7907013" y="4694385"/>
            <a:ext cx="317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en.wikipedia.org</a:t>
            </a:r>
            <a:r>
              <a:rPr lang="en-US" sz="1200" dirty="0"/>
              <a:t>/wiki/</a:t>
            </a:r>
            <a:r>
              <a:rPr lang="en-US" sz="1200" dirty="0" err="1"/>
              <a:t>UNICRI_Centre_for_AI_and_Robotics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8839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6899-319B-8971-89F4-A7F9B22D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all" dirty="0"/>
              <a:t>benefits of technology in </a:t>
            </a:r>
            <a:r>
              <a:rPr lang="en-US" cap="all" dirty="0" err="1"/>
              <a:t>cac</a:t>
            </a:r>
            <a:r>
              <a:rPr lang="en-US" cap="all" dirty="0"/>
              <a:t> investigations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A347D-1013-4C12-9D7C-1984770E3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0155" y="2556932"/>
            <a:ext cx="5196441" cy="331893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Enhances accuracy &amp; preserves integrity of forensic interviews</a:t>
            </a:r>
          </a:p>
          <a:p>
            <a:r>
              <a:rPr lang="en-US" dirty="0"/>
              <a:t>Streamlines case management &amp; facilitates data sharing</a:t>
            </a:r>
          </a:p>
          <a:p>
            <a:r>
              <a:rPr lang="en-US" dirty="0"/>
              <a:t>Enables faster identification &amp; analysis of digital evidence</a:t>
            </a:r>
          </a:p>
          <a:p>
            <a:r>
              <a:rPr lang="en-US" dirty="0"/>
              <a:t>Reduces trauma for children &amp; professionals</a:t>
            </a:r>
          </a:p>
          <a:p>
            <a:r>
              <a:rPr lang="en-US" dirty="0"/>
              <a:t>Supports multidisciplinary collaboration &amp; informed decision-making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BB2B9-E1FB-FC97-1F47-C10AE174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92" y="2702914"/>
            <a:ext cx="3810000" cy="2000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627178-0AFF-DB48-F000-14D2A215E1E3}"/>
              </a:ext>
            </a:extLst>
          </p:cNvPr>
          <p:cNvSpPr txBox="1"/>
          <p:nvPr/>
        </p:nvSpPr>
        <p:spPr>
          <a:xfrm>
            <a:off x="1903751" y="4703164"/>
            <a:ext cx="3442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hudsonofficeinc.com</a:t>
            </a:r>
            <a:r>
              <a:rPr lang="en-US" sz="1200" dirty="0"/>
              <a:t>/the-benefit-of-technology-for-improved-productivity/</a:t>
            </a:r>
          </a:p>
        </p:txBody>
      </p:sp>
    </p:spTree>
    <p:extLst>
      <p:ext uri="{BB962C8B-B14F-4D97-AF65-F5344CB8AC3E}">
        <p14:creationId xmlns:p14="http://schemas.microsoft.com/office/powerpoint/2010/main" val="1612417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3E88-8F76-F5C0-76A9-0008BB18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all" dirty="0"/>
              <a:t>challenges and ethical considerations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13C49-6721-DC0B-DC39-51BD0376C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865420" cy="3318936"/>
          </a:xfrm>
        </p:spPr>
        <p:txBody>
          <a:bodyPr>
            <a:normAutofit fontScale="92500"/>
          </a:bodyPr>
          <a:lstStyle/>
          <a:p>
            <a:r>
              <a:rPr lang="en-US" dirty="0"/>
              <a:t>Privacy concerns &amp; safeguarding sensitive data</a:t>
            </a:r>
          </a:p>
          <a:p>
            <a:r>
              <a:rPr lang="en-US" dirty="0"/>
              <a:t>Risk of data breaches &amp; unauthorized access </a:t>
            </a:r>
          </a:p>
          <a:p>
            <a:r>
              <a:rPr lang="en-US" dirty="0"/>
              <a:t>Potential AI biases affecting fairness &amp; accuracy</a:t>
            </a:r>
          </a:p>
          <a:p>
            <a:r>
              <a:rPr lang="en-US" dirty="0"/>
              <a:t>Emotional toll on investigators dealing with traumatic content</a:t>
            </a:r>
          </a:p>
          <a:p>
            <a:r>
              <a:rPr lang="en-US" dirty="0"/>
              <a:t>Need for transparency and responsible AI 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F235B0-EE14-4296-F1CF-DCD016EEE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277" y="2668251"/>
            <a:ext cx="3846321" cy="2173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8902F8-6DFC-6EC7-66F7-AF6E0564A4B3}"/>
              </a:ext>
            </a:extLst>
          </p:cNvPr>
          <p:cNvSpPr txBox="1"/>
          <p:nvPr/>
        </p:nvSpPr>
        <p:spPr>
          <a:xfrm>
            <a:off x="7567530" y="4841823"/>
            <a:ext cx="328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salestechstar.com</a:t>
            </a:r>
            <a:r>
              <a:rPr lang="en-US" sz="1200" dirty="0"/>
              <a:t>/sales-engagement/challenges-and-ethical-considerations-of-using-ai-in-sales/</a:t>
            </a:r>
          </a:p>
        </p:txBody>
      </p:sp>
    </p:spTree>
    <p:extLst>
      <p:ext uri="{BB962C8B-B14F-4D97-AF65-F5344CB8AC3E}">
        <p14:creationId xmlns:p14="http://schemas.microsoft.com/office/powerpoint/2010/main" val="3864851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EBB-F454-6860-C053-62D0E717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all" dirty="0"/>
              <a:t>Future directions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C7C3E-D058-BEC7-71E4-76F11474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5" y="2556932"/>
            <a:ext cx="5932711" cy="3318936"/>
          </a:xfrm>
        </p:spPr>
        <p:txBody>
          <a:bodyPr>
            <a:normAutofit fontScale="92500"/>
          </a:bodyPr>
          <a:lstStyle/>
          <a:p>
            <a:r>
              <a:rPr lang="en-US" dirty="0"/>
              <a:t>Continued integration of AI &amp; advanced analytics</a:t>
            </a:r>
          </a:p>
          <a:p>
            <a:r>
              <a:rPr lang="en-US" dirty="0"/>
              <a:t>Improved training for professionals on technology use &amp; ethics </a:t>
            </a:r>
          </a:p>
          <a:p>
            <a:r>
              <a:rPr lang="en-US" dirty="0"/>
              <a:t>Development of trauma-informed digital tools</a:t>
            </a:r>
          </a:p>
          <a:p>
            <a:r>
              <a:rPr lang="en-US" dirty="0"/>
              <a:t>Enhanced data sharing between agencies</a:t>
            </a:r>
          </a:p>
          <a:p>
            <a:r>
              <a:rPr lang="en-US" dirty="0"/>
              <a:t>Ongoing efforts to balance innovation with privacy and ethics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5F82B-C61E-0F9F-54AD-334619A9880C}"/>
              </a:ext>
            </a:extLst>
          </p:cNvPr>
          <p:cNvSpPr txBox="1"/>
          <p:nvPr/>
        </p:nvSpPr>
        <p:spPr>
          <a:xfrm>
            <a:off x="1295402" y="4890035"/>
            <a:ext cx="3468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www.freepik.com</a:t>
            </a:r>
            <a:r>
              <a:rPr lang="en-US" sz="1200" dirty="0"/>
              <a:t>/premium-vector/illustration-business-finance-man-seeing-future-direction_14324887.htm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366A8-E1E4-D088-E9E1-D017E705C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273" y="2556932"/>
            <a:ext cx="3102786" cy="233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63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5A4A-0BFF-AB32-6BA9-3B020B86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all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34235-B0D6-1B55-1A41-FBB8144B9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CAC </a:t>
            </a:r>
            <a:r>
              <a:rPr lang="en-US" dirty="0" err="1"/>
              <a:t>CareNet</a:t>
            </a:r>
            <a:r>
              <a:rPr lang="en-US" dirty="0"/>
              <a:t>. (n.d.). Benefits. Retrieved November 21, 2025, from </a:t>
            </a:r>
            <a:r>
              <a:rPr lang="en-US" u="sng" dirty="0">
                <a:hlinkClick r:id="rId2"/>
              </a:rPr>
              <a:t>https://caccarenet.com/benefits/</a:t>
            </a:r>
            <a:endParaRPr lang="en-US" dirty="0"/>
          </a:p>
          <a:p>
            <a:r>
              <a:rPr lang="en-US" dirty="0" err="1"/>
              <a:t>CaseCracker</a:t>
            </a:r>
            <a:r>
              <a:rPr lang="en-US" dirty="0"/>
              <a:t> (Cardinal Peak Technologies). (n.d.). Children’s advocacy centers. Retrieved November 21, 2025, from </a:t>
            </a:r>
            <a:r>
              <a:rPr lang="en-US" u="sng" dirty="0">
                <a:hlinkClick r:id="rId3"/>
              </a:rPr>
              <a:t>https://www.casecracker.com/industries/child-advocacy-centers/</a:t>
            </a:r>
            <a:endParaRPr lang="en-US" dirty="0"/>
          </a:p>
          <a:p>
            <a:r>
              <a:rPr lang="en-US" dirty="0"/>
              <a:t>Chapin Hall at the University of Chicago. (n.d.). The Center for State Child Welfare Data. Retrieved November 21, 2025, from </a:t>
            </a:r>
            <a:r>
              <a:rPr lang="en-US" u="sng" dirty="0">
                <a:hlinkClick r:id="rId4"/>
              </a:rPr>
              <a:t>https://www.chapinhall.org/project/the-center-for-state-child-welfare-data/</a:t>
            </a:r>
            <a:endParaRPr lang="en-US" dirty="0"/>
          </a:p>
          <a:p>
            <a:r>
              <a:rPr lang="en-US" dirty="0"/>
              <a:t>Sylvia’s CAC. (n.d.). Forensic interviews aid the investigation of a crime. Retrieved November 21, 2025, from </a:t>
            </a:r>
            <a:r>
              <a:rPr lang="en-US" u="sng" dirty="0">
                <a:hlinkClick r:id="rId5"/>
              </a:rPr>
              <a:t>https://sylviascac.org/forensic-interviews/</a:t>
            </a:r>
            <a:endParaRPr lang="en-US" dirty="0"/>
          </a:p>
          <a:p>
            <a:r>
              <a:rPr lang="en-US" dirty="0"/>
              <a:t>United Nations Interregional Crime and Justice Research Institute (UNICRI). (n.d.). AI for Safer Children. Retrieved November 21, 2025, from </a:t>
            </a:r>
            <a:r>
              <a:rPr lang="en-US" u="sng" dirty="0">
                <a:hlinkClick r:id="rId6"/>
              </a:rPr>
              <a:t>https://unicri.org/topics/AI-for-Safer-Children</a:t>
            </a:r>
            <a:endParaRPr lang="en-US" dirty="0"/>
          </a:p>
          <a:p>
            <a:r>
              <a:rPr lang="en-US" dirty="0" err="1"/>
              <a:t>WeProtect</a:t>
            </a:r>
            <a:r>
              <a:rPr lang="en-US" dirty="0"/>
              <a:t> Global Alliance. (n.d.). Artificial intelligence and ‘Gen AI’. Retrieved November 21, 2025, from </a:t>
            </a:r>
            <a:r>
              <a:rPr lang="en-US" u="sng" dirty="0">
                <a:hlinkClick r:id="rId7"/>
              </a:rPr>
              <a:t>https://www.weprotect.org/thematic/artificial-intelligence-and-gen-ai/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7322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</TotalTime>
  <Words>868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Organic</vt:lpstr>
      <vt:lpstr>How child advocacy centers use technology in investigations</vt:lpstr>
      <vt:lpstr>WHY DIGITAL RECORDING MATTERS IN CAC INVESTIGATIONS</vt:lpstr>
      <vt:lpstr>Sylvia’s child advocacy center</vt:lpstr>
      <vt:lpstr>Cardinal peak technologies</vt:lpstr>
      <vt:lpstr>importance of case management &amp; data sharing</vt:lpstr>
      <vt:lpstr>Chapin Hall</vt:lpstr>
      <vt:lpstr>CAC carenet</vt:lpstr>
      <vt:lpstr>how ai supports cac investigations</vt:lpstr>
      <vt:lpstr>Weprotect global alliance</vt:lpstr>
      <vt:lpstr>Unicri</vt:lpstr>
      <vt:lpstr>benefits of technology in cac investigations</vt:lpstr>
      <vt:lpstr>challenges and ethical considerations</vt:lpstr>
      <vt:lpstr>Future directions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Jhanvi Barnes</dc:creator>
  <cp:lastModifiedBy>Jhanvi Barnes</cp:lastModifiedBy>
  <cp:revision>3</cp:revision>
  <dcterms:created xsi:type="dcterms:W3CDTF">2025-11-24T19:34:00Z</dcterms:created>
  <dcterms:modified xsi:type="dcterms:W3CDTF">2025-11-24T20:13:13Z</dcterms:modified>
</cp:coreProperties>
</file>